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5060F"/>
              </a:gs>
              <a:gs pos="100000">
                <a:srgbClr val="25134D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-2194560"/>
            <a:ext cx="6035040" cy="6035040"/>
          </a:xfrm>
          <a:prstGeom prst="ellipse">
            <a:avLst/>
          </a:prstGeom>
          <a:solidFill>
            <a:srgbClr val="7C3AED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4206240"/>
            <a:ext cx="6217920" cy="6217920"/>
          </a:xfrm>
          <a:prstGeom prst="ellipse">
            <a:avLst/>
          </a:prstGeom>
          <a:solidFill>
            <a:srgbClr val="4F46E5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09760" y="-1828800"/>
            <a:ext cx="4206240" cy="4206240"/>
          </a:xfrm>
          <a:prstGeom prst="ellipse">
            <a:avLst/>
          </a:prstGeom>
          <a:solidFill>
            <a:srgbClr val="60A5FA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1097280" y="4754880"/>
            <a:ext cx="3657600" cy="3657600"/>
          </a:xfrm>
          <a:prstGeom prst="ellipse">
            <a:avLst/>
          </a:prstGeom>
          <a:solidFill>
            <a:srgbClr val="C4B5F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443984"/>
            <a:ext cx="12191695" cy="25400"/>
          </a:xfrm>
          <a:prstGeom prst="rect">
            <a:avLst/>
          </a:prstGeom>
          <a:solidFill>
            <a:srgbClr val="7C3AED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1033272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Segoe UI Black"/>
              </a:rPr>
              <a:t>GLOBIT</a:t>
            </a:r>
          </a:p>
          <a:p>
            <a:pPr algn="l"/>
            <a:r>
              <a:rPr sz="2000" b="0" i="0">
                <a:solidFill>
                  <a:srgbClr val="C4B5FD"/>
                </a:solidFill>
                <a:latin typeface="Segoe UI"/>
              </a:rPr>
              <a:t>Système d’Information des Ressources Humaines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331720"/>
            <a:ext cx="8138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E2E8F0"/>
                </a:solidFill>
                <a:latin typeface="Segoe UI"/>
              </a:rPr>
              <a:t>SIRH · Plateforme de gestion intégrée</a:t>
            </a:r>
          </a:p>
          <a:p>
            <a:pPr algn="l"/>
            <a:r>
              <a:rPr sz="1300" b="0" i="0">
                <a:solidFill>
                  <a:srgbClr val="9CA3C4"/>
                </a:solidFill>
                <a:latin typeface="Segoe UI"/>
              </a:rPr>
              <a:t>Présentation officielle du projet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0160" y="5120640"/>
            <a:ext cx="2331720" cy="6858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Déclaration de présence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67912" y="5120640"/>
            <a:ext cx="2331720" cy="6858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1524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Congés &amp; Paie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5664" y="5120640"/>
            <a:ext cx="2331720" cy="6858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1524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PWA Mobile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43416" y="5120640"/>
            <a:ext cx="2331720" cy="6858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Messagerie interne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CA3C4"/>
                </a:solidFill>
                <a:latin typeface="Segoe UI"/>
              </a:rPr>
              <a:t>GLOBIT · 2026 — République Démocratique du Congo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0718"/>
              </a:gs>
              <a:gs pos="100000">
                <a:srgbClr val="171034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-1645920"/>
            <a:ext cx="4754880" cy="4754880"/>
          </a:xfrm>
          <a:prstGeom prst="ellipse">
            <a:avLst/>
          </a:prstGeom>
          <a:solidFill>
            <a:srgbClr val="7C3AED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4023360"/>
            <a:ext cx="4389120" cy="4389120"/>
          </a:xfrm>
          <a:prstGeom prst="ellipse">
            <a:avLst/>
          </a:prstGeom>
          <a:solidFill>
            <a:srgbClr val="60A5F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09760" y="-1371600"/>
            <a:ext cx="4023360" cy="4023360"/>
          </a:xfrm>
          <a:prstGeom prst="ellipse">
            <a:avLst/>
          </a:prstGeom>
          <a:solidFill>
            <a:srgbClr val="7C3AED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6928" y="502920"/>
            <a:ext cx="91440" cy="91440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66928" y="658368"/>
            <a:ext cx="91440" cy="91440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7432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4B5FD"/>
                </a:solidFill>
                <a:latin typeface="Segoe UI"/>
              </a:rPr>
              <a:t>INTRODUCTION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Objectifs du projet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1170432"/>
            <a:ext cx="2194560" cy="3175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3504" y="1865376"/>
            <a:ext cx="82296" cy="82296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783080"/>
            <a:ext cx="5321808" cy="219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Centraliser la gestion RH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CA3C4"/>
                </a:solidFill>
                <a:latin typeface="Segoe UI"/>
              </a:rPr>
              <a:t>Une plateforme unique pour toutes les ressources humaines de GLOBIT.</a:t>
            </a:r>
          </a:p>
        </p:txBody>
      </p:sp>
      <p:sp>
        <p:nvSpPr>
          <p:cNvPr id="12" name="Oval 11"/>
          <p:cNvSpPr/>
          <p:nvPr/>
        </p:nvSpPr>
        <p:spPr>
          <a:xfrm>
            <a:off x="603504" y="27468576"/>
            <a:ext cx="82296" cy="82296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7386280"/>
            <a:ext cx="5321808" cy="219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Fiabiliser le pointage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CA3C4"/>
                </a:solidFill>
                <a:latin typeface="Segoe UI"/>
              </a:rPr>
              <a:t>Déclaration d’arrivée/départ auto-responsable avant 10h00, états automatiques.</a:t>
            </a:r>
          </a:p>
        </p:txBody>
      </p:sp>
      <p:sp>
        <p:nvSpPr>
          <p:cNvPr id="14" name="Oval 13"/>
          <p:cNvSpPr/>
          <p:nvPr/>
        </p:nvSpPr>
        <p:spPr>
          <a:xfrm>
            <a:off x="603504" y="53071776"/>
            <a:ext cx="82296" cy="82296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2989480"/>
            <a:ext cx="5321808" cy="219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Simplifier les processus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CA3C4"/>
                </a:solidFill>
                <a:latin typeface="Segoe UI"/>
              </a:rPr>
              <a:t>Congés, paie, formations, évaluations et rapports fluidifiés.</a:t>
            </a:r>
          </a:p>
        </p:txBody>
      </p:sp>
      <p:sp>
        <p:nvSpPr>
          <p:cNvPr id="16" name="Oval 15"/>
          <p:cNvSpPr/>
          <p:nvPr/>
        </p:nvSpPr>
        <p:spPr>
          <a:xfrm>
            <a:off x="603504" y="78674976"/>
            <a:ext cx="82296" cy="82296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78592680"/>
            <a:ext cx="5321808" cy="219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Assurer la traçabilité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CA3C4"/>
                </a:solidFill>
                <a:latin typeface="Segoe UI"/>
              </a:rPr>
              <a:t>Journal d’audit et historiques consultables par la direction.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1828800"/>
            <a:ext cx="5029200" cy="3566160"/>
          </a:xfrm>
          <a:prstGeom prst="roundRect">
            <a:avLst>
              <a:gd name="adj" fmla="val 6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2148840"/>
            <a:ext cx="21945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C4B5FD"/>
                </a:solidFill>
                <a:latin typeface="Segoe UI Black"/>
              </a:rPr>
              <a:t>15</a:t>
            </a:r>
          </a:p>
          <a:p>
            <a:pPr algn="l"/>
            <a:r>
              <a:rPr sz="1200" b="0" i="0">
                <a:solidFill>
                  <a:srgbClr val="9CA3C4"/>
                </a:solidFill>
                <a:latin typeface="Segoe UI"/>
              </a:rPr>
              <a:t>tables métier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8592" y="2148840"/>
            <a:ext cx="21945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60A5FA"/>
                </a:solidFill>
                <a:latin typeface="Segoe UI Black"/>
              </a:rPr>
              <a:t>4</a:t>
            </a:r>
          </a:p>
          <a:p>
            <a:pPr algn="l"/>
            <a:r>
              <a:rPr sz="1200" b="0" i="0">
                <a:solidFill>
                  <a:srgbClr val="9CA3C4"/>
                </a:solidFill>
                <a:latin typeface="Segoe UI"/>
              </a:rPr>
              <a:t>profils d’accès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3721608"/>
            <a:ext cx="21945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C4B5FD"/>
                </a:solidFill>
                <a:latin typeface="Segoe UI Black"/>
              </a:rPr>
              <a:t>100%</a:t>
            </a:r>
          </a:p>
          <a:p>
            <a:pPr algn="l"/>
            <a:r>
              <a:rPr sz="1200" b="0" i="0">
                <a:solidFill>
                  <a:srgbClr val="9CA3C4"/>
                </a:solidFill>
                <a:latin typeface="Segoe UI"/>
              </a:rPr>
              <a:t>PWA &amp; Mobile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08592" y="3721608"/>
            <a:ext cx="21945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60A5FA"/>
                </a:solidFill>
                <a:latin typeface="Segoe UI Black"/>
              </a:rPr>
              <a:t>1</a:t>
            </a:r>
          </a:p>
          <a:p>
            <a:pPr algn="l"/>
            <a:r>
              <a:rPr sz="1200" b="0" i="0">
                <a:solidFill>
                  <a:srgbClr val="9CA3C4"/>
                </a:solidFill>
                <a:latin typeface="Segoe UI"/>
              </a:rPr>
              <a:t>SQL tout-en-un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4864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CA3C4"/>
                </a:solidFill>
                <a:latin typeface="Segoe UI"/>
              </a:rPr>
              <a:t>Architecture PHP 8 MVC · MariaDB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916"/>
              </a:gs>
              <a:gs pos="100000">
                <a:srgbClr val="12142E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3474720"/>
            <a:ext cx="4206240" cy="4206240"/>
          </a:xfrm>
          <a:prstGeom prst="ellipse">
            <a:avLst/>
          </a:prstGeom>
          <a:solidFill>
            <a:srgbClr val="60A5FA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7C3AED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09760" y="-1371600"/>
            <a:ext cx="4023360" cy="4023360"/>
          </a:xfrm>
          <a:prstGeom prst="ellipse">
            <a:avLst/>
          </a:prstGeom>
          <a:solidFill>
            <a:srgbClr val="60A5F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6928" y="502920"/>
            <a:ext cx="91440" cy="91440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66928" y="658368"/>
            <a:ext cx="91440" cy="91440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7432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4B5FD"/>
                </a:solidFill>
                <a:latin typeface="Segoe UI"/>
              </a:rPr>
              <a:t>ARCHITECTURE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Une base technique moderne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1170432"/>
            <a:ext cx="2194560" cy="3175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828800"/>
            <a:ext cx="3611880" cy="3749039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C4B5FD"/>
                </a:solidFill>
                <a:latin typeface="Segoe UI"/>
              </a:rPr>
              <a:t>Cœur PHP 8.1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259689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514600"/>
            <a:ext cx="2944368" cy="173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Modèle MVC natif sans framework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1997049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19888200"/>
            <a:ext cx="2944368" cy="173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Routeur centralisé / controllers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3734409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7261800"/>
            <a:ext cx="2944368" cy="173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Validation &amp; échappement HTML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471769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54635400"/>
            <a:ext cx="2944368" cy="173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Protection CSRF par formulaire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19" y="1828800"/>
            <a:ext cx="3611880" cy="3749039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1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0A5FA"/>
                </a:solidFill>
                <a:latin typeface="Segoe UI"/>
              </a:rPr>
              <a:t>Données MariaDB</a:t>
            </a:r>
          </a:p>
        </p:txBody>
      </p:sp>
      <p:sp>
        <p:nvSpPr>
          <p:cNvPr id="22" name="Oval 21"/>
          <p:cNvSpPr/>
          <p:nvPr/>
        </p:nvSpPr>
        <p:spPr>
          <a:xfrm>
            <a:off x="4645151" y="2596896"/>
            <a:ext cx="82296" cy="82296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183" y="2514600"/>
            <a:ext cx="2944368" cy="173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Un seul fichier sirh.sql</a:t>
            </a:r>
          </a:p>
        </p:txBody>
      </p:sp>
      <p:sp>
        <p:nvSpPr>
          <p:cNvPr id="24" name="Oval 23"/>
          <p:cNvSpPr/>
          <p:nvPr/>
        </p:nvSpPr>
        <p:spPr>
          <a:xfrm>
            <a:off x="4645151" y="19970496"/>
            <a:ext cx="82296" cy="82296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01183" y="19888200"/>
            <a:ext cx="2944368" cy="173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15 tables métier reliées</a:t>
            </a:r>
          </a:p>
        </p:txBody>
      </p:sp>
      <p:sp>
        <p:nvSpPr>
          <p:cNvPr id="26" name="Oval 25"/>
          <p:cNvSpPr/>
          <p:nvPr/>
        </p:nvSpPr>
        <p:spPr>
          <a:xfrm>
            <a:off x="4645151" y="37344096"/>
            <a:ext cx="82296" cy="82296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183" y="37261800"/>
            <a:ext cx="2944368" cy="173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Contraintes &amp; index adaptés</a:t>
            </a:r>
          </a:p>
        </p:txBody>
      </p:sp>
      <p:sp>
        <p:nvSpPr>
          <p:cNvPr id="28" name="Oval 27"/>
          <p:cNvSpPr/>
          <p:nvPr/>
        </p:nvSpPr>
        <p:spPr>
          <a:xfrm>
            <a:off x="4645151" y="54717696"/>
            <a:ext cx="82296" cy="82296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183" y="54635400"/>
            <a:ext cx="2944368" cy="173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Jongle historique complet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11310" y="1828800"/>
            <a:ext cx="3611880" cy="3749039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2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C4B5FD"/>
                </a:solidFill>
                <a:latin typeface="Segoe UI"/>
              </a:rPr>
              <a:t>PWA Mobile &amp; API</a:t>
            </a:r>
          </a:p>
        </p:txBody>
      </p:sp>
      <p:sp>
        <p:nvSpPr>
          <p:cNvPr id="32" name="Oval 31"/>
          <p:cNvSpPr/>
          <p:nvPr/>
        </p:nvSpPr>
        <p:spPr>
          <a:xfrm>
            <a:off x="8467342" y="259689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23374" y="2514600"/>
            <a:ext cx="2944368" cy="173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Application web installable</a:t>
            </a:r>
          </a:p>
        </p:txBody>
      </p:sp>
      <p:sp>
        <p:nvSpPr>
          <p:cNvPr id="34" name="Oval 33"/>
          <p:cNvSpPr/>
          <p:nvPr/>
        </p:nvSpPr>
        <p:spPr>
          <a:xfrm>
            <a:off x="8467342" y="1997049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23374" y="19888200"/>
            <a:ext cx="2944368" cy="173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API JSON pour le mobile</a:t>
            </a:r>
          </a:p>
        </p:txBody>
      </p:sp>
      <p:sp>
        <p:nvSpPr>
          <p:cNvPr id="36" name="Oval 35"/>
          <p:cNvSpPr/>
          <p:nvPr/>
        </p:nvSpPr>
        <p:spPr>
          <a:xfrm>
            <a:off x="8467342" y="3734409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23374" y="37261800"/>
            <a:ext cx="2944368" cy="173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Compteur de présence temps réel</a:t>
            </a:r>
          </a:p>
        </p:txBody>
      </p:sp>
      <p:sp>
        <p:nvSpPr>
          <p:cNvPr id="38" name="Oval 37"/>
          <p:cNvSpPr/>
          <p:nvPr/>
        </p:nvSpPr>
        <p:spPr>
          <a:xfrm>
            <a:off x="8467342" y="5471769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23374" y="54635400"/>
            <a:ext cx="2944368" cy="1737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Appel au mode hors-ligne cache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10922"/>
              </a:gs>
              <a:gs pos="100000">
                <a:srgbClr val="2A124E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554480" y="-1554480"/>
            <a:ext cx="4937760" cy="4937760"/>
          </a:xfrm>
          <a:prstGeom prst="ellipse">
            <a:avLst/>
          </a:prstGeom>
          <a:solidFill>
            <a:srgbClr val="7C3AED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0" y="4389120"/>
            <a:ext cx="5120640" cy="5120640"/>
          </a:xfrm>
          <a:prstGeom prst="ellipse">
            <a:avLst/>
          </a:prstGeom>
          <a:solidFill>
            <a:srgbClr val="C4B5FD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09760" y="-1371600"/>
            <a:ext cx="4023360" cy="4023360"/>
          </a:xfrm>
          <a:prstGeom prst="ellipse">
            <a:avLst/>
          </a:prstGeom>
          <a:solidFill>
            <a:srgbClr val="7C3AED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6928" y="502920"/>
            <a:ext cx="91440" cy="91440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66928" y="658368"/>
            <a:ext cx="91440" cy="91440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7432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4B5FD"/>
                </a:solidFill>
                <a:latin typeface="Segoe UI"/>
              </a:rPr>
              <a:t>NOUVEAUTÉ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Déclaration de présence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1170432"/>
            <a:ext cx="2194560" cy="3175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3504" y="1828800"/>
            <a:ext cx="5120640" cy="3977639"/>
          </a:xfrm>
          <a:prstGeom prst="roundRect">
            <a:avLst>
              <a:gd name="adj" fmla="val 6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CA3C4"/>
                </a:solidFill>
                <a:latin typeface="Segoe UI"/>
              </a:rPr>
              <a:t>Marquer votre arrivée avant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C4B5FD"/>
                </a:solidFill>
                <a:latin typeface="Segoe UI Black"/>
              </a:rPr>
              <a:t>10h00</a:t>
            </a:r>
          </a:p>
          <a:p>
            <a:pPr algn="l"/>
            <a:r>
              <a:rPr sz="1300" b="0" i="0">
                <a:solidFill>
                  <a:srgbClr val="9CA3C4"/>
                </a:solidFill>
                <a:latin typeface="Segoe UI"/>
              </a:rPr>
              <a:t>Compte à rebours réseau multi-devices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703320"/>
            <a:ext cx="2331720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wrap="square"/>
          <a:lstStyle/>
          <a:p>
            <a:pPr algn="l"/>
            <a:r>
              <a:rPr sz="1400" b="1">
                <a:solidFill>
                  <a:srgbClr val="FFFFFF"/>
                </a:solidFill>
              </a:rPr>
              <a:t>Avant 08h00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3703320"/>
            <a:ext cx="1965960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wrap="square"/>
          <a:lstStyle/>
          <a:p>
            <a:pPr algn="l"/>
            <a:r>
              <a:rPr sz="1400" b="1">
                <a:solidFill>
                  <a:srgbClr val="22C55E"/>
                </a:solidFill>
              </a:rPr>
              <a:t>Présent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471416"/>
            <a:ext cx="2331720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wrap="square"/>
          <a:lstStyle/>
          <a:p>
            <a:pPr algn="l"/>
            <a:r>
              <a:rPr sz="1400" b="1">
                <a:solidFill>
                  <a:srgbClr val="FFFFFF"/>
                </a:solidFill>
              </a:rPr>
              <a:t>08h00 → 10h00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4471416"/>
            <a:ext cx="1965960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wrap="square"/>
          <a:lstStyle/>
          <a:p>
            <a:pPr algn="l"/>
            <a:r>
              <a:rPr sz="1400" b="1">
                <a:solidFill>
                  <a:srgbClr val="F59E0B"/>
                </a:solidFill>
              </a:rPr>
              <a:t>Retard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239512"/>
            <a:ext cx="2331720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wrap="square"/>
          <a:lstStyle/>
          <a:p>
            <a:pPr algn="l"/>
            <a:r>
              <a:rPr sz="1400" b="1">
                <a:solidFill>
                  <a:srgbClr val="FFFFFF"/>
                </a:solidFill>
              </a:rPr>
              <a:t>Après 10h00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20440" y="5239512"/>
            <a:ext cx="1965960" cy="603504"/>
          </a:xfrm>
          <a:prstGeom prst="roundRect">
            <a:avLst>
              <a:gd name="adj" fmla="val 6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wrap="square"/>
          <a:lstStyle/>
          <a:p>
            <a:pPr algn="l"/>
            <a:r>
              <a:rPr sz="1400" b="1">
                <a:solidFill>
                  <a:srgbClr val="F87171"/>
                </a:solidFill>
              </a:rPr>
              <a:t>Absent (auto)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1828800"/>
            <a:ext cx="5577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Comment ça marche ?</a:t>
            </a:r>
          </a:p>
          <a:p>
            <a:pPr algn="l"/>
            <a:r>
              <a:rPr sz="1400" b="0" i="0">
                <a:solidFill>
                  <a:srgbClr val="9CA3C4"/>
                </a:solidFill>
                <a:latin typeface="Segoe UI"/>
              </a:rPr>
              <a:t>L’employé déclare son arrivée dans la journée via le web ou le mobile ; le statut est calculé automatiquement selon l’heure GLOBIT (fuseau Afrique/Kinshasa).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0" y="3191256"/>
            <a:ext cx="82296" cy="82296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1072" y="3108960"/>
            <a:ext cx="5413248" cy="1920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Bouton Départ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9CA3C4"/>
                </a:solidFill>
                <a:latin typeface="Segoe UI"/>
              </a:rPr>
              <a:t>Complète la journée une fois l’arrivée enregistrée.</a:t>
            </a:r>
          </a:p>
        </p:txBody>
      </p:sp>
      <p:sp>
        <p:nvSpPr>
          <p:cNvPr id="22" name="Oval 21"/>
          <p:cNvSpPr/>
          <p:nvPr/>
        </p:nvSpPr>
        <p:spPr>
          <a:xfrm>
            <a:off x="6035040" y="26051256"/>
            <a:ext cx="82296" cy="82296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1072" y="25968960"/>
            <a:ext cx="5413248" cy="1920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Justification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9CA3C4"/>
                </a:solidFill>
                <a:latin typeface="Segoe UI"/>
              </a:rPr>
              <a:t>L’absent contacte le RH via la messagerie interne.</a:t>
            </a:r>
          </a:p>
        </p:txBody>
      </p:sp>
      <p:sp>
        <p:nvSpPr>
          <p:cNvPr id="24" name="Oval 23"/>
          <p:cNvSpPr/>
          <p:nvPr/>
        </p:nvSpPr>
        <p:spPr>
          <a:xfrm>
            <a:off x="6035040" y="48911256"/>
            <a:ext cx="82296" cy="82296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1072" y="48828960"/>
            <a:ext cx="5413248" cy="1920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Régularisation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9CA3C4"/>
                </a:solidFill>
                <a:latin typeface="Segoe UI"/>
              </a:rPr>
              <a:t>Le RH ou la direction marque « justifié » en un clic.</a:t>
            </a:r>
          </a:p>
        </p:txBody>
      </p:sp>
      <p:sp>
        <p:nvSpPr>
          <p:cNvPr id="26" name="Oval 25"/>
          <p:cNvSpPr/>
          <p:nvPr/>
        </p:nvSpPr>
        <p:spPr>
          <a:xfrm>
            <a:off x="6035040" y="71771256"/>
            <a:ext cx="82296" cy="82296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91072" y="71688960"/>
            <a:ext cx="5413248" cy="1920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Rappel automatique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9CA3C4"/>
                </a:solidFill>
                <a:latin typeface="Segoe UI"/>
              </a:rPr>
              <a:t>Script désigné aux absents après la limite.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0718"/>
              </a:gs>
              <a:gs pos="100000">
                <a:srgbClr val="131530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645920"/>
            <a:ext cx="4572000" cy="4572000"/>
          </a:xfrm>
          <a:prstGeom prst="ellipse">
            <a:avLst/>
          </a:prstGeom>
          <a:solidFill>
            <a:srgbClr val="60A5FA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3840480"/>
            <a:ext cx="4023360" cy="4023360"/>
          </a:xfrm>
          <a:prstGeom prst="ellipse">
            <a:avLst/>
          </a:prstGeom>
          <a:solidFill>
            <a:srgbClr val="7C3AED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09760" y="-1371600"/>
            <a:ext cx="4023360" cy="4023360"/>
          </a:xfrm>
          <a:prstGeom prst="ellipse">
            <a:avLst/>
          </a:prstGeom>
          <a:solidFill>
            <a:srgbClr val="60A5FA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6928" y="502920"/>
            <a:ext cx="91440" cy="91440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66928" y="658368"/>
            <a:ext cx="91440" cy="91440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7432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4B5FD"/>
                </a:solidFill>
                <a:latin typeface="Segoe UI"/>
              </a:rPr>
              <a:t>EXPÉRIENCE UTILISATEUR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Pointage Web &amp; Mobile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1170432"/>
            <a:ext cx="2194560" cy="3175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3504" y="182880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38528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60A5FA"/>
                </a:solidFill>
                <a:latin typeface="Segoe UI"/>
              </a:rPr>
              <a:t>Interface web RH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2459736"/>
            <a:ext cx="82296" cy="82296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377440"/>
            <a:ext cx="4681728" cy="18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Tableau de bord en temps réel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20747736"/>
            <a:ext cx="82296" cy="82296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0665440"/>
            <a:ext cx="4681728" cy="18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Table des absents à régulariser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39035736"/>
            <a:ext cx="82296" cy="82296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8953440"/>
            <a:ext cx="4681728" cy="18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Validation / rejet des retards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3977640"/>
            <a:ext cx="5394960" cy="2011680"/>
          </a:xfrm>
          <a:prstGeom prst="roundRect">
            <a:avLst>
              <a:gd name="adj" fmla="val 6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87368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60A5FA"/>
                </a:solidFill>
                <a:latin typeface="Segoe UI"/>
              </a:rPr>
              <a:t>App mobile PWA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4608576"/>
            <a:ext cx="82296" cy="82296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526280"/>
            <a:ext cx="4681728" cy="18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Téléphonable sans installation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22896576"/>
            <a:ext cx="82296" cy="82296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22814280"/>
            <a:ext cx="4681728" cy="18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Boutons Déclarer / Départ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" y="41184576"/>
            <a:ext cx="82296" cy="82296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1102280"/>
            <a:ext cx="4681728" cy="18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Historique et statuts colorés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1828800"/>
            <a:ext cx="5349240" cy="3977639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205740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C4B5FD"/>
                </a:solidFill>
                <a:latin typeface="Segoe UI"/>
              </a:rPr>
              <a:t>Le compte à rebours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2606040"/>
            <a:ext cx="48463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Implémenté sur des horodatages absolus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400" b="0" i="0">
                <a:solidFill>
                  <a:srgbClr val="9CA3C4"/>
                </a:solidFill>
                <a:latin typeface="Segoe UI"/>
              </a:rPr>
              <a:t>L’affichage ne dépend ni du fuseau du navigateur ni de l’horloge du poste : le serveur injecte le temps GLOBIT et la limite de 10h00.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CA3C4"/>
                </a:solidFill>
                <a:latin typeface="Segoe UI"/>
              </a:rPr>
              <a:t>Fuseau officiel : </a:t>
            </a:r>
            <a:r>
              <a:rPr sz="1400" b="1" i="0">
                <a:solidFill>
                  <a:srgbClr val="22C55E"/>
                </a:solidFill>
                <a:latin typeface="Segoe UI"/>
              </a:rPr>
              <a:t>UTC+01:00 Afrique/Kinshasa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0916"/>
              </a:gs>
              <a:gs pos="100000">
                <a:srgbClr val="12142E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3291840"/>
            <a:ext cx="4206240" cy="4206240"/>
          </a:xfrm>
          <a:prstGeom prst="ellipse">
            <a:avLst/>
          </a:prstGeom>
          <a:solidFill>
            <a:srgbClr val="C4B5FD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60A5FA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09760" y="-1371600"/>
            <a:ext cx="4023360" cy="4023360"/>
          </a:xfrm>
          <a:prstGeom prst="ellipse">
            <a:avLst/>
          </a:prstGeom>
          <a:solidFill>
            <a:srgbClr val="C4B5FD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6928" y="502920"/>
            <a:ext cx="91440" cy="91440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66928" y="658368"/>
            <a:ext cx="91440" cy="91440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7432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4B5FD"/>
                </a:solidFill>
                <a:latin typeface="Segoe UI"/>
              </a:rPr>
              <a:t>ESPACE RH &amp; DIRECTION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Modules de 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1170432"/>
            <a:ext cx="2194560" cy="31750"/>
          </a:xfrm>
          <a:prstGeom prst="rect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828800"/>
            <a:ext cx="361188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2048256"/>
            <a:ext cx="91440" cy="91440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212848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Employés &amp; Services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9CA3C4"/>
                </a:solidFill>
                <a:latin typeface="Segoe UI"/>
              </a:rPr>
              <a:t>Fiches agents, affectations, organigramme des services.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19" y="1828800"/>
            <a:ext cx="361188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26863" y="2048256"/>
            <a:ext cx="91440" cy="91440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3" y="2212848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Congés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9CA3C4"/>
                </a:solidFill>
                <a:latin typeface="Segoe UI"/>
              </a:rPr>
              <a:t>Demandes, solde disponible, approbation RH en ligne.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1310" y="1828800"/>
            <a:ext cx="361188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49054" y="2048256"/>
            <a:ext cx="91440" cy="91440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9054" y="2212848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Paie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9CA3C4"/>
                </a:solidFill>
                <a:latin typeface="Segoe UI"/>
              </a:rPr>
              <a:t>Génération des fiches, validation, paiement, archives.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657600"/>
            <a:ext cx="361188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" y="3877056"/>
            <a:ext cx="91440" cy="91440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041648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Formations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9CA3C4"/>
                </a:solidFill>
                <a:latin typeface="Segoe UI"/>
              </a:rPr>
              <a:t>Catalogue, inscriptions et suivi des statuts.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19" y="3657600"/>
            <a:ext cx="361188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26863" y="3877056"/>
            <a:ext cx="91440" cy="91440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3" y="4041648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Rapports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9CA3C4"/>
                </a:solidFill>
                <a:latin typeface="Segoe UI"/>
              </a:rPr>
              <a:t>Absentéisme et congés exportables (Excel / PDF).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11310" y="3657600"/>
            <a:ext cx="361188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49054" y="3877056"/>
            <a:ext cx="91440" cy="91440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4" y="4041648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Journal d’audit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9CA3C4"/>
                </a:solidFill>
                <a:latin typeface="Segoe UI"/>
              </a:rPr>
              <a:t>Traçabilité des actions sensibles pour l’admin.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20A20"/>
              </a:gs>
              <a:gs pos="100000">
                <a:srgbClr val="1E1038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63040" y="-1463040"/>
            <a:ext cx="4572000" cy="4572000"/>
          </a:xfrm>
          <a:prstGeom prst="ellipse">
            <a:avLst/>
          </a:prstGeom>
          <a:solidFill>
            <a:srgbClr val="F59E0B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3840480"/>
            <a:ext cx="4754880" cy="4754880"/>
          </a:xfrm>
          <a:prstGeom prst="ellipse">
            <a:avLst/>
          </a:prstGeom>
          <a:solidFill>
            <a:srgbClr val="7C3AE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09760" y="-1371600"/>
            <a:ext cx="4023360" cy="4023360"/>
          </a:xfrm>
          <a:prstGeom prst="ellipse">
            <a:avLst/>
          </a:prstGeom>
          <a:solidFill>
            <a:srgbClr val="F59E0B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6928" y="502920"/>
            <a:ext cx="91440" cy="91440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66928" y="658368"/>
            <a:ext cx="91440" cy="91440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7432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4B5FD"/>
                </a:solidFill>
                <a:latin typeface="Segoe UI"/>
              </a:rPr>
              <a:t>COMMUNICATION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Messagerie &amp; notifications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1170432"/>
            <a:ext cx="2194560" cy="317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3504" y="1828800"/>
            <a:ext cx="5303520" cy="3931920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  <a:latin typeface="Segoe UI"/>
              </a:rPr>
              <a:t>Messagerie interne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688336"/>
            <a:ext cx="82296" cy="822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" y="2606040"/>
            <a:ext cx="4498848" cy="1920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Conversations privées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9CA3C4"/>
                </a:solidFill>
                <a:latin typeface="Segoe UI"/>
              </a:rPr>
              <a:t>Employé ⇄ RH ⇄ Administration, en un fil.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5548336"/>
            <a:ext cx="82296" cy="822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4712" y="25466040"/>
            <a:ext cx="4498848" cy="1920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Justification d’absence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9CA3C4"/>
                </a:solidFill>
                <a:latin typeface="Segoe UI"/>
              </a:rPr>
              <a:t>L’employé s’explique, le RH régularise.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48408336"/>
            <a:ext cx="82296" cy="822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4712" y="48326040"/>
            <a:ext cx="4498848" cy="1920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Annonces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9CA3C4"/>
                </a:solidFill>
                <a:latin typeface="Segoe UI"/>
              </a:rPr>
              <a:t>Diffusion générale à toute l’équipe.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71268336"/>
            <a:ext cx="82296" cy="822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4712" y="71186040"/>
            <a:ext cx="4498848" cy="1920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Non-lus temps réel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9CA3C4"/>
                </a:solidFill>
                <a:latin typeface="Segoe UI"/>
              </a:rPr>
              <a:t>Compteurs dans le web et le mobile.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828800"/>
            <a:ext cx="5349240" cy="3931920"/>
          </a:xfrm>
          <a:prstGeom prst="roundRect">
            <a:avLst>
              <a:gd name="adj" fmla="val 600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05740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C4B5FD"/>
                </a:solidFill>
                <a:latin typeface="Segoe UI"/>
              </a:rPr>
              <a:t>Notifications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268833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2606040"/>
            <a:ext cx="4590288" cy="1920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Alertes d’absence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9CA3C4"/>
                </a:solidFill>
                <a:latin typeface="Segoe UI"/>
              </a:rPr>
              <a:t>Le RH voit les absents à régulariser.</a:t>
            </a:r>
          </a:p>
        </p:txBody>
      </p:sp>
      <p:sp>
        <p:nvSpPr>
          <p:cNvPr id="24" name="Oval 23"/>
          <p:cNvSpPr/>
          <p:nvPr/>
        </p:nvSpPr>
        <p:spPr>
          <a:xfrm>
            <a:off x="6537960" y="2554833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25466040"/>
            <a:ext cx="4590288" cy="1920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Approbations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9CA3C4"/>
                </a:solidFill>
                <a:latin typeface="Segoe UI"/>
              </a:rPr>
              <a:t>Avis de validation des congés et présences.</a:t>
            </a:r>
          </a:p>
        </p:txBody>
      </p:sp>
      <p:sp>
        <p:nvSpPr>
          <p:cNvPr id="26" name="Oval 25"/>
          <p:cNvSpPr/>
          <p:nvPr/>
        </p:nvSpPr>
        <p:spPr>
          <a:xfrm>
            <a:off x="6537960" y="4840833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48326040"/>
            <a:ext cx="4590288" cy="1920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Nouveaux messages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9CA3C4"/>
                </a:solidFill>
                <a:latin typeface="Segoe UI"/>
              </a:rPr>
              <a:t>Notification silencieuse par statut lu/non-lu.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5060F"/>
              </a:gs>
              <a:gs pos="100000">
                <a:srgbClr val="131530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645920" y="3657600"/>
            <a:ext cx="4389120" cy="4389120"/>
          </a:xfrm>
          <a:prstGeom prst="ellipse">
            <a:avLst/>
          </a:prstGeom>
          <a:solidFill>
            <a:srgbClr val="7C3AED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60A5FA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09760" y="-1371600"/>
            <a:ext cx="4023360" cy="4023360"/>
          </a:xfrm>
          <a:prstGeom prst="ellipse">
            <a:avLst/>
          </a:prstGeom>
          <a:solidFill>
            <a:srgbClr val="22C55E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6928" y="502920"/>
            <a:ext cx="91440" cy="91440"/>
          </a:xfrm>
          <a:prstGeom prst="ellipse">
            <a:avLst/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66928" y="658368"/>
            <a:ext cx="91440" cy="91440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7432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4B5FD"/>
                </a:solidFill>
                <a:latin typeface="Segoe UI"/>
              </a:rPr>
              <a:t>GARANTIES</a:t>
            </a:r>
          </a:p>
          <a:p>
            <a:pPr algn="l"/>
            <a:r>
              <a:rPr sz="3400" b="1" i="0">
                <a:solidFill>
                  <a:srgbClr val="FFFFFF"/>
                </a:solidFill>
                <a:latin typeface="Segoe UI"/>
              </a:rPr>
              <a:t>Sécurité &amp; fiabilité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1170432"/>
            <a:ext cx="2194560" cy="3175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3504" y="2002536"/>
            <a:ext cx="82296" cy="82296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920240"/>
            <a:ext cx="10716768" cy="228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Rôles et contrôles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9CA3C4"/>
                </a:solidFill>
                <a:latin typeface="Segoe UI"/>
              </a:rPr>
              <a:t>Accès selon profil : admin, RH, employé — chaque action vérifiée.</a:t>
            </a:r>
          </a:p>
        </p:txBody>
      </p:sp>
      <p:sp>
        <p:nvSpPr>
          <p:cNvPr id="12" name="Oval 11"/>
          <p:cNvSpPr/>
          <p:nvPr/>
        </p:nvSpPr>
        <p:spPr>
          <a:xfrm>
            <a:off x="603504" y="28520136"/>
            <a:ext cx="82296" cy="82296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8437840"/>
            <a:ext cx="10716768" cy="228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Fuseau GLOBIT unique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9CA3C4"/>
                </a:solidFill>
                <a:latin typeface="Segoe UI"/>
              </a:rPr>
              <a:t>UTC+01:00 Afrique/Kinshasa appliqué au PHP et à MariaDB ; compte à rebours fiable sur tous les postes.</a:t>
            </a:r>
          </a:p>
        </p:txBody>
      </p:sp>
      <p:sp>
        <p:nvSpPr>
          <p:cNvPr id="14" name="Oval 13"/>
          <p:cNvSpPr/>
          <p:nvPr/>
        </p:nvSpPr>
        <p:spPr>
          <a:xfrm>
            <a:off x="603504" y="55037736"/>
            <a:ext cx="82296" cy="82296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4955440"/>
            <a:ext cx="10716768" cy="228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Données protégées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9CA3C4"/>
                </a:solidFill>
                <a:latin typeface="Segoe UI"/>
              </a:rPr>
              <a:t>Mots de passe hachés, sessions sécurisées, protection CSRF, échappement de toutes les sorties.</a:t>
            </a:r>
          </a:p>
        </p:txBody>
      </p:sp>
      <p:sp>
        <p:nvSpPr>
          <p:cNvPr id="16" name="Oval 15"/>
          <p:cNvSpPr/>
          <p:nvPr/>
        </p:nvSpPr>
        <p:spPr>
          <a:xfrm>
            <a:off x="603504" y="81555336"/>
            <a:ext cx="82296" cy="82296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81473040"/>
            <a:ext cx="10716768" cy="228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Un seul SQL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9CA3C4"/>
                </a:solidFill>
                <a:latin typeface="Segoe UI"/>
              </a:rPr>
              <a:t>sirh.sql : base + 15 tables + jeux de données, import en une seule étape.</a:t>
            </a:r>
          </a:p>
        </p:txBody>
      </p:sp>
      <p:sp>
        <p:nvSpPr>
          <p:cNvPr id="18" name="Oval 17"/>
          <p:cNvSpPr/>
          <p:nvPr/>
        </p:nvSpPr>
        <p:spPr>
          <a:xfrm>
            <a:off x="603504" y="108072936"/>
            <a:ext cx="82296" cy="82296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107990640"/>
            <a:ext cx="10716768" cy="228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Journal d’audit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9CA3C4"/>
                </a:solidFill>
                <a:latin typeface="Segoe UI"/>
              </a:rPr>
              <a:t>Chaque action sensible enregistrée et consultable par l’administrateur.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5060F"/>
              </a:gs>
              <a:gs pos="100000">
                <a:srgbClr val="25134D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-2011680"/>
            <a:ext cx="5852160" cy="5852160"/>
          </a:xfrm>
          <a:prstGeom prst="ellipse">
            <a:avLst/>
          </a:prstGeom>
          <a:solidFill>
            <a:srgbClr val="7C3AED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4023360"/>
            <a:ext cx="6035040" cy="6035040"/>
          </a:xfrm>
          <a:prstGeom prst="ellipse">
            <a:avLst/>
          </a:prstGeom>
          <a:solidFill>
            <a:srgbClr val="60A5FA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92640" y="-1463040"/>
            <a:ext cx="3657600" cy="3657600"/>
          </a:xfrm>
          <a:prstGeom prst="ellipse">
            <a:avLst/>
          </a:prstGeom>
          <a:solidFill>
            <a:srgbClr val="C4B5FD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Segoe UI Black"/>
              </a:rPr>
              <a:t>Merci 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651760"/>
            <a:ext cx="8503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E2E8F0"/>
                </a:solidFill>
                <a:latin typeface="Segoe UI"/>
              </a:rPr>
              <a:t>Le projet SIRH accompagne GLOBIT vers une gestion RH moderne, numérique et fiable.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3749039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3749039"/>
            <a:ext cx="5577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C4B5FD"/>
                </a:solidFill>
                <a:latin typeface="Segoe UI"/>
              </a:rPr>
              <a:t>GLOBIT · Système d’Information des Ressources Humaines</a:t>
            </a:r>
          </a:p>
          <a:p>
            <a:pPr algn="l"/>
            <a:r>
              <a:rPr sz="1300" b="0" i="0">
                <a:solidFill>
                  <a:srgbClr val="9CA3C4"/>
                </a:solidFill>
                <a:latin typeface="Segoe UI"/>
              </a:rPr>
              <a:t>Questions &amp; réponses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