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F"/>
              </a:gs>
              <a:gs pos="100000">
                <a:srgbClr val="25134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-2194560"/>
            <a:ext cx="6035040" cy="6035040"/>
          </a:xfrm>
          <a:prstGeom prst="ellipse">
            <a:avLst/>
          </a:prstGeom>
          <a:solidFill>
            <a:srgbClr val="7C3AED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4206240"/>
            <a:ext cx="6217920" cy="6217920"/>
          </a:xfrm>
          <a:prstGeom prst="ellipse">
            <a:avLst/>
          </a:prstGeom>
          <a:solidFill>
            <a:srgbClr val="4F46E5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828800"/>
            <a:ext cx="4206240" cy="4206240"/>
          </a:xfrm>
          <a:prstGeom prst="ellipse">
            <a:avLst/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097280" y="4754880"/>
            <a:ext cx="3657600" cy="3657600"/>
          </a:xfrm>
          <a:prstGeom prst="ellipse">
            <a:avLst/>
          </a:prstGeom>
          <a:solidFill>
            <a:srgbClr val="C4B5F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443984"/>
            <a:ext cx="12191695" cy="25400"/>
          </a:xfrm>
          <a:prstGeom prst="rect">
            <a:avLst/>
          </a:prstGeom>
          <a:solidFill>
            <a:srgbClr val="7C3AE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Segoe UI Black"/>
              </a:rPr>
              <a:t>GLOBIT SAAS</a:t>
            </a:r>
          </a:p>
          <a:p>
            <a:pPr algn="l"/>
            <a:r>
              <a:rPr sz="2000" b="0" i="0">
                <a:solidFill>
                  <a:srgbClr val="C4B5FD"/>
                </a:solidFill>
                <a:latin typeface="Segoe UI"/>
              </a:rPr>
              <a:t>Système d’Information des Ressources Humaines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31720"/>
            <a:ext cx="8138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2E8F0"/>
                </a:solidFill>
                <a:latin typeface="Segoe UI"/>
              </a:rPr>
              <a:t>SIRH · Plateforme de gestion intégrée</a:t>
            </a:r>
          </a:p>
          <a:p>
            <a:pPr algn="l"/>
            <a:r>
              <a:rPr sz="1300" b="0" i="0">
                <a:solidFill>
                  <a:srgbClr val="9CA3C4"/>
                </a:solidFill>
                <a:latin typeface="Segoe UI"/>
              </a:rPr>
              <a:t>Présentation officielle du projet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5120640"/>
            <a:ext cx="233172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524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Pointage QR sécurisé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67912" y="5120640"/>
            <a:ext cx="233172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524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Congés &amp; Paie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5120640"/>
            <a:ext cx="233172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PWA Mobile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5120640"/>
            <a:ext cx="233172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Messagerie interne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CA3C4"/>
                </a:solidFill>
                <a:latin typeface="Segoe UI"/>
              </a:rPr>
              <a:t>GLOBIT SAAS · 2026 — République Démocratique du Congo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718"/>
              </a:gs>
              <a:gs pos="100000">
                <a:srgbClr val="171034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4754880" cy="4754880"/>
          </a:xfrm>
          <a:prstGeom prst="ellipse">
            <a:avLst/>
          </a:prstGeom>
          <a:solidFill>
            <a:srgbClr val="7C3AED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023360"/>
            <a:ext cx="4389120" cy="4389120"/>
          </a:xfrm>
          <a:prstGeom prst="ellipse">
            <a:avLst/>
          </a:prstGeom>
          <a:solidFill>
            <a:srgbClr val="60A5F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7C3AE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INTRODUCTION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Objectifs du projet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4" y="186537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21808" cy="219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Centraliser la gestion RH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CA3C4"/>
                </a:solidFill>
                <a:latin typeface="Segoe UI"/>
              </a:rPr>
              <a:t>Une plateforme unique pour toutes les ressources humaines de GLOBIT SAAS.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2746857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7386280"/>
            <a:ext cx="5321808" cy="219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Fiabiliser le pointage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CA3C4"/>
                </a:solidFill>
                <a:latin typeface="Segoe UI"/>
              </a:rPr>
              <a:t>QR dynamique scanné à la réception : 1er scan = arrivée, 2e scan = départ, code renouvelé toutes les 30 s.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5307177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2989480"/>
            <a:ext cx="5321808" cy="219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Simplifier les processus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CA3C4"/>
                </a:solidFill>
                <a:latin typeface="Segoe UI"/>
              </a:rPr>
              <a:t>Congés, paie, formations, évaluations et rapports fluidifiés.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" y="7867497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78592680"/>
            <a:ext cx="5321808" cy="219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Assurer la traçabilité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CA3C4"/>
                </a:solidFill>
                <a:latin typeface="Segoe UI"/>
              </a:rPr>
              <a:t>Journal d’audit et historiques consultables par la direction.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828800"/>
            <a:ext cx="5029200" cy="356616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148840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  <a:latin typeface="Segoe UI Black"/>
              </a:rPr>
              <a:t>15</a:t>
            </a:r>
          </a:p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tables métier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148840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60A5FA"/>
                </a:solidFill>
                <a:latin typeface="Segoe UI Black"/>
              </a:rPr>
              <a:t>4</a:t>
            </a:r>
          </a:p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profils d’accès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721608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  <a:latin typeface="Segoe UI Black"/>
              </a:rPr>
              <a:t>100%</a:t>
            </a:r>
          </a:p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PWA &amp; Mobile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3721608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60A5FA"/>
                </a:solidFill>
                <a:latin typeface="Segoe UI Black"/>
              </a:rPr>
              <a:t>1</a:t>
            </a:r>
          </a:p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SQL tout-en-un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4864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Architecture PHP 8 MVC · MariaDB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916"/>
              </a:gs>
              <a:gs pos="100000">
                <a:srgbClr val="12142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474720"/>
            <a:ext cx="4206240" cy="4206240"/>
          </a:xfrm>
          <a:prstGeom prst="ellipse">
            <a:avLst/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7C3AED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60A5F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ARCHITECTURE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Une base technique moderne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4B5FD"/>
                </a:solidFill>
                <a:latin typeface="Segoe UI"/>
              </a:rPr>
              <a:t>Cœur PHP 8.1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5968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5146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Modèle MVC natif sans framework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199704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198882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Routeur centralisé / controllers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73440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72618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Validation &amp; échappement HTML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47176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46354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Protection CSRF par formulaire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19" y="182880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Segoe UI"/>
              </a:rPr>
              <a:t>Données MariaDB</a:t>
            </a:r>
          </a:p>
        </p:txBody>
      </p:sp>
      <p:sp>
        <p:nvSpPr>
          <p:cNvPr id="22" name="Oval 21"/>
          <p:cNvSpPr/>
          <p:nvPr/>
        </p:nvSpPr>
        <p:spPr>
          <a:xfrm>
            <a:off x="4645151" y="259689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3" y="25146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Un seul fichier sirh.sql</a:t>
            </a:r>
          </a:p>
        </p:txBody>
      </p:sp>
      <p:sp>
        <p:nvSpPr>
          <p:cNvPr id="24" name="Oval 23"/>
          <p:cNvSpPr/>
          <p:nvPr/>
        </p:nvSpPr>
        <p:spPr>
          <a:xfrm>
            <a:off x="4645151" y="1997049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01183" y="198882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15 tables métier reliées</a:t>
            </a:r>
          </a:p>
        </p:txBody>
      </p:sp>
      <p:sp>
        <p:nvSpPr>
          <p:cNvPr id="26" name="Oval 25"/>
          <p:cNvSpPr/>
          <p:nvPr/>
        </p:nvSpPr>
        <p:spPr>
          <a:xfrm>
            <a:off x="4645151" y="3734409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1183" y="372618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Contraintes &amp; index adaptés</a:t>
            </a:r>
          </a:p>
        </p:txBody>
      </p:sp>
      <p:sp>
        <p:nvSpPr>
          <p:cNvPr id="28" name="Oval 27"/>
          <p:cNvSpPr/>
          <p:nvPr/>
        </p:nvSpPr>
        <p:spPr>
          <a:xfrm>
            <a:off x="4645151" y="5471769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3" y="546354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Jongle historique complet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11310" y="182880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2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4B5FD"/>
                </a:solidFill>
                <a:latin typeface="Segoe UI"/>
              </a:rPr>
              <a:t>PWA Mobile &amp; API</a:t>
            </a:r>
          </a:p>
        </p:txBody>
      </p:sp>
      <p:sp>
        <p:nvSpPr>
          <p:cNvPr id="32" name="Oval 31"/>
          <p:cNvSpPr/>
          <p:nvPr/>
        </p:nvSpPr>
        <p:spPr>
          <a:xfrm>
            <a:off x="8467342" y="25968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23374" y="25146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Application web installable</a:t>
            </a:r>
          </a:p>
        </p:txBody>
      </p:sp>
      <p:sp>
        <p:nvSpPr>
          <p:cNvPr id="34" name="Oval 33"/>
          <p:cNvSpPr/>
          <p:nvPr/>
        </p:nvSpPr>
        <p:spPr>
          <a:xfrm>
            <a:off x="8467342" y="199704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4" y="198882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API JSON pour le mobile</a:t>
            </a:r>
          </a:p>
        </p:txBody>
      </p:sp>
      <p:sp>
        <p:nvSpPr>
          <p:cNvPr id="36" name="Oval 35"/>
          <p:cNvSpPr/>
          <p:nvPr/>
        </p:nvSpPr>
        <p:spPr>
          <a:xfrm>
            <a:off x="8467342" y="373440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3374" y="372618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Compteur de présence temps réel</a:t>
            </a:r>
          </a:p>
        </p:txBody>
      </p:sp>
      <p:sp>
        <p:nvSpPr>
          <p:cNvPr id="38" name="Oval 37"/>
          <p:cNvSpPr/>
          <p:nvPr/>
        </p:nvSpPr>
        <p:spPr>
          <a:xfrm>
            <a:off x="8467342" y="547176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23374" y="546354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QR signé HMAC, jamais mis en cache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10922"/>
              </a:gs>
              <a:gs pos="100000">
                <a:srgbClr val="2A124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54480" y="-1554480"/>
            <a:ext cx="4937760" cy="4937760"/>
          </a:xfrm>
          <a:prstGeom prst="ellipse">
            <a:avLst/>
          </a:prstGeom>
          <a:solidFill>
            <a:srgbClr val="7C3AE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4389120"/>
            <a:ext cx="5120640" cy="5120640"/>
          </a:xfrm>
          <a:prstGeom prst="ellipse">
            <a:avLst/>
          </a:prstGeom>
          <a:solidFill>
            <a:srgbClr val="C4B5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7C3AE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NOUVEAUTÉ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Pointage par QR code dynamique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1828800"/>
            <a:ext cx="5120640" cy="3977639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CA3C4"/>
                </a:solidFill>
                <a:latin typeface="Segoe UI"/>
              </a:rPr>
              <a:t>Le code change toutes 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C4B5FD"/>
                </a:solidFill>
                <a:latin typeface="Segoe UI Black"/>
              </a:rPr>
              <a:t>30 secondes</a:t>
            </a:r>
          </a:p>
          <a:p>
            <a:pPr algn="l"/>
            <a:r>
              <a:rPr sz="1300" b="0" i="0">
                <a:solidFill>
                  <a:srgbClr val="9CA3C4"/>
                </a:solidFill>
                <a:latin typeface="Segoe UI"/>
              </a:rPr>
              <a:t>Secret signé, aucune photo réutilisable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03320"/>
            <a:ext cx="233172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1er 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703320"/>
            <a:ext cx="196596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22C55E"/>
                </a:solidFill>
              </a:rPr>
              <a:t>Arrivée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471416"/>
            <a:ext cx="233172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2e scan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471416"/>
            <a:ext cx="196596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59E0B"/>
                </a:solidFill>
              </a:rPr>
              <a:t>Départ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239512"/>
            <a:ext cx="233172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3e scan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5239512"/>
            <a:ext cx="196596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87171"/>
                </a:solidFill>
              </a:rPr>
              <a:t>Refusé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82880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Comment ça marche ?</a:t>
            </a:r>
          </a:p>
          <a:p>
            <a:pPr algn="l"/>
            <a:r>
              <a:rPr sz="1400" b="0" i="0">
                <a:solidFill>
                  <a:srgbClr val="9CA3C4"/>
                </a:solidFill>
                <a:latin typeface="Segoe UI"/>
              </a:rPr>
              <a:t>L’employé affiche sur son téléphone un QR signé, renouvelé toutes les 30 secondes ; la réception le scanne et l’heure GLOBIT SAAS (fuseau Afrique/Kinshasa) détermine le statut.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0" y="319125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108960"/>
            <a:ext cx="54132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QR personnel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Code unique par employé, calculé par le serveur à la demande du téléphone.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0" y="2605125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5968960"/>
            <a:ext cx="54132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Deuxième scan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Le 2e scan de la journée enregistre le départ ; un 3e scan est refusé.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0" y="4891125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48828960"/>
            <a:ext cx="54132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Sécurité du code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Secret HMAC de 256 bits, rotation de 30 s : photo, capture ou modification sont rejetées.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0" y="7177125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71688960"/>
            <a:ext cx="54132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Rappel automatique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Script désigné aux absents après la limite.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718"/>
              </a:gs>
              <a:gs pos="100000">
                <a:srgbClr val="13153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645920"/>
            <a:ext cx="4572000" cy="4572000"/>
          </a:xfrm>
          <a:prstGeom prst="ellipse">
            <a:avLst/>
          </a:prstGeom>
          <a:solidFill>
            <a:srgbClr val="60A5F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3840480"/>
            <a:ext cx="4023360" cy="4023360"/>
          </a:xfrm>
          <a:prstGeom prst="ellipse">
            <a:avLst/>
          </a:prstGeom>
          <a:solidFill>
            <a:srgbClr val="7C3AE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60A5F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EXPÉRIENCE UTILISATEUR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Pointage Web &amp; Mobile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182880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0A5FA"/>
                </a:solidFill>
                <a:latin typeface="Segoe UI"/>
              </a:rPr>
              <a:t>Interface web RH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45973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37744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Tableau de bord en temps réel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074773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066544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Table des absents à régulariser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903573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895344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Validation / rejet des retards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397764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87368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0A5FA"/>
                </a:solidFill>
                <a:latin typeface="Segoe UI"/>
              </a:rPr>
              <a:t>App mobile PWA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60857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52628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Téléphonable sans installation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2289657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2281428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QR personnel rotatif (30 s)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118457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110228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Historique et statuts colorés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82880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057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4B5FD"/>
                </a:solidFill>
                <a:latin typeface="Segoe UI"/>
              </a:rPr>
              <a:t>Le compte à rebours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606040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Implémenté sur des horodatages absolus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400" b="0" i="0">
                <a:solidFill>
                  <a:srgbClr val="9CA3C4"/>
                </a:solidFill>
                <a:latin typeface="Segoe UI"/>
              </a:rPr>
              <a:t>Le serveur injecte le temps GLOBIT SAAS (limite de 10h00) et signe un jeton QR valable 30 s : ni le fuseau du navigateur ni l’horloge du poste ne faussent le pointage.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CA3C4"/>
                </a:solidFill>
                <a:latin typeface="Segoe UI"/>
              </a:rPr>
              <a:t>Fuseau officiel : </a:t>
            </a:r>
            <a:r>
              <a:rPr sz="1400" b="1" i="0">
                <a:solidFill>
                  <a:srgbClr val="22C55E"/>
                </a:solidFill>
                <a:latin typeface="Segoe UI"/>
              </a:rPr>
              <a:t>UTC+01:00 Afrique/Kinshasa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916"/>
              </a:gs>
              <a:gs pos="100000">
                <a:srgbClr val="12142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3291840"/>
            <a:ext cx="4206240" cy="4206240"/>
          </a:xfrm>
          <a:prstGeom prst="ellipse">
            <a:avLst/>
          </a:prstGeom>
          <a:solidFill>
            <a:srgbClr val="C4B5FD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C4B5F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ESPACE RH &amp; DIRECTION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Modules de gestion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2048256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2128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Employés &amp; Services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Fiches agents, affectations, organigramme des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18288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26863" y="2048256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3" y="22128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Congés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Demandes, solde disponible, approbation RH en ligne.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0" y="18288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49054" y="2048256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4" y="22128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Paie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Génération des fiches, validation, paiement, archives.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6576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2" y="3877056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0416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Formations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Catalogue, inscriptions et suivi des statuts.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19" y="36576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26863" y="3877056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3" y="40416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Rapports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Absentéisme et congés exportables (Excel / PDF).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11310" y="36576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49054" y="3877056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4" y="40416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Journal d’audit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Traçabilité des actions sensibles pour l’admin.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0A20"/>
              </a:gs>
              <a:gs pos="100000">
                <a:srgbClr val="1E103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3840480"/>
            <a:ext cx="4754880" cy="4754880"/>
          </a:xfrm>
          <a:prstGeom prst="ellipse">
            <a:avLst/>
          </a:prstGeom>
          <a:solidFill>
            <a:srgbClr val="7C3AED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F59E0B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COMMUNICATION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Messagerie &amp; notifications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1828800"/>
            <a:ext cx="5303520" cy="3931920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Segoe UI"/>
              </a:rPr>
              <a:t>Messagerie interne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6883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2606040"/>
            <a:ext cx="44988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Conversations privées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Employé ⇄ RH ⇄ Administration, en un fil.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55483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25466040"/>
            <a:ext cx="44988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Justification d’absence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L’employé s’explique, le RH régularise.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84083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48326040"/>
            <a:ext cx="44988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Annonces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Diffusion générale à toute l’équipe.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712683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71186040"/>
            <a:ext cx="44988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Non-lus temps réel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Compteurs dans le web et le mobile.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057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4B5FD"/>
                </a:solidFill>
                <a:latin typeface="Segoe UI"/>
              </a:rPr>
              <a:t>Notifications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268833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606040"/>
            <a:ext cx="459028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Alertes d’absence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Le RH voit les absents à régulariser.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2554833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25466040"/>
            <a:ext cx="459028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Approbations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Avis de validation des congés et présences.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4840833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8326040"/>
            <a:ext cx="459028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Nouveaux messages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Notification silencieuse par statut lu/non-lu.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F"/>
              </a:gs>
              <a:gs pos="100000">
                <a:srgbClr val="13153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3657600"/>
            <a:ext cx="4389120" cy="4389120"/>
          </a:xfrm>
          <a:prstGeom prst="ellipse">
            <a:avLst/>
          </a:prstGeom>
          <a:solidFill>
            <a:srgbClr val="7C3AED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22C55E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GARANTIES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Sécurité &amp; fiabilité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202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Rôles et contrôles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Accès selon profil : admin, RH, employé — chaque action vérifiée.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285201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84378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Fuseau GLOBIT SAAS unique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UTC+01:00 Afrique/Kinshasa appliqué au PHP et à MariaDB ; compte à rebours fiable sur tous les postes.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550377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49554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Données protégées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Mots de passe hachés, sessions sécurisées, CSRF, échappement HTML ; secret QR de 256 bits par employé, jamais stocké ni affiché en clair.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" y="815553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814730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Un seul SQL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sirh.sql : base + 15 tables + jeux de données, import en une seule étape.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1080729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079906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Journal d’audit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Chaque action sensible enregistrée et consultable par l’administrateur.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F"/>
              </a:gs>
              <a:gs pos="100000">
                <a:srgbClr val="25134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-2011680"/>
            <a:ext cx="5852160" cy="5852160"/>
          </a:xfrm>
          <a:prstGeom prst="ellipse">
            <a:avLst/>
          </a:prstGeom>
          <a:solidFill>
            <a:srgbClr val="7C3AED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4023360"/>
            <a:ext cx="6035040" cy="6035040"/>
          </a:xfrm>
          <a:prstGeom prst="ellipse">
            <a:avLst/>
          </a:prstGeom>
          <a:solidFill>
            <a:srgbClr val="60A5F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-1463040"/>
            <a:ext cx="3657600" cy="3657600"/>
          </a:xfrm>
          <a:prstGeom prst="ellipse">
            <a:avLst/>
          </a:prstGeom>
          <a:solidFill>
            <a:srgbClr val="C4B5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 Black"/>
              </a:rPr>
              <a:t>Merci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5176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2E8F0"/>
                </a:solidFill>
                <a:latin typeface="Segoe UI"/>
              </a:rPr>
              <a:t>Le projet SIRH accompagne GLOBIT SAAS vers une gestion RH moderne, numérique et fiable.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749039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3749039"/>
            <a:ext cx="557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4B5FD"/>
                </a:solidFill>
                <a:latin typeface="Segoe UI"/>
              </a:rPr>
              <a:t>GLOBIT SAAS · Système d’Information des Ressources Humaines</a:t>
            </a:r>
          </a:p>
          <a:p>
            <a:pPr algn="l"/>
            <a:r>
              <a:rPr sz="1300" b="0" i="0">
                <a:solidFill>
                  <a:srgbClr val="9CA3C4"/>
                </a:solidFill>
                <a:latin typeface="Segoe UI"/>
              </a:rPr>
              <a:t>Questions &amp; réponses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GLOBIT SAAS - SIRH</dc:title>
  <dc:subject>Systeme d'Information des Ressources Humaines - startup GLOBIT SAAS</dc:subject>
  <dc:creator>GLOBIT SAAS</dc:creator>
  <cp:keywords>GLOBIT SAAS; SIRH; RH; RDC</cp:keywords>
  <dc:description>© GLOBIT SAAS - Tous droits reserves.</dc:description>
  <cp:lastModifiedBy>GLOBIT SAAS</cp:lastModifiedBy>
  <cp:revision>1</cp:revision>
  <dcterms:created xsi:type="dcterms:W3CDTF">2013-01-27T09:14:16Z</dcterms:created>
  <dcterms:modified xsi:type="dcterms:W3CDTF">2013-01-27T09:15:58Z</dcterms:modified>
  <cp:category>Startup GLOBIT SAAS</cp:category>
</cp:coreProperties>
</file>