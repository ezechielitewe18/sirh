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25134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194560"/>
            <a:ext cx="6035040" cy="6035040"/>
          </a:xfrm>
          <a:prstGeom prst="ellipse">
            <a:avLst/>
          </a:prstGeom>
          <a:solidFill>
            <a:srgbClr val="7C3AED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206240"/>
            <a:ext cx="6217920" cy="6217920"/>
          </a:xfrm>
          <a:prstGeom prst="ellipse">
            <a:avLst/>
          </a:prstGeom>
          <a:solidFill>
            <a:srgbClr val="4F46E5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82880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C4B5F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443984"/>
            <a:ext cx="12191695" cy="25400"/>
          </a:xfrm>
          <a:prstGeom prst="rect">
            <a:avLst/>
          </a:prstGeom>
          <a:solidFill>
            <a:srgbClr val="7C3AE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 Black"/>
              </a:rPr>
              <a:t>GLOBIT SAS</a:t>
            </a:r>
          </a:p>
          <a:p>
            <a:pPr algn="l"/>
            <a:r>
              <a:rPr sz="2000" b="0" i="0">
                <a:solidFill>
                  <a:srgbClr val="C4B5FD"/>
                </a:solidFill>
                <a:latin typeface="Segoe UI"/>
              </a:rPr>
              <a:t>Système d’Information des 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31720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E8F0"/>
                </a:solidFill>
                <a:latin typeface="Segoe UI"/>
              </a:rPr>
              <a:t>SIRH · Plateforme de gestion intégrée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Présentation officielle du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Pointage QR sécurisé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7912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Congés &amp; Paie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PWA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5120640"/>
            <a:ext cx="233172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Messagerie interne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A3C4"/>
                </a:solidFill>
                <a:latin typeface="Segoe UI"/>
              </a:rPr>
              <a:t>GLOBIT SAS · 2026 — République Démocratique du Congo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718"/>
              </a:gs>
              <a:gs pos="100000">
                <a:srgbClr val="171034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4754880" cy="4754880"/>
          </a:xfrm>
          <a:prstGeom prst="ellipse">
            <a:avLst/>
          </a:prstGeom>
          <a:solidFill>
            <a:srgbClr val="7C3AE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023360"/>
            <a:ext cx="4389120" cy="4389120"/>
          </a:xfrm>
          <a:prstGeom prst="ellipse">
            <a:avLst/>
          </a:prstGeom>
          <a:solidFill>
            <a:srgbClr val="60A5F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INTRODUCTION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Objectifs du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" y="18653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Centraliser la gestion RH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Une plateforme unique pour toutes les ressources humaines de GLOBIT SAS.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74685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3862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Fiabiliser le pointage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QR dynamique scanné à la réception : 1er scan = arrivée, 2e scan = départ, code renouvelé toutes les 30 s.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530717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29894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Simplifier les processus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Congés, paie, formations, évaluations et rapports fluidifiés.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7867497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78592680"/>
            <a:ext cx="5321808" cy="219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Assurer la traçabilité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CA3C4"/>
                </a:solidFill>
                <a:latin typeface="Segoe UI"/>
              </a:rPr>
              <a:t>Journal d’audit et historiques consultables par la direction.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2880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148840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  <a:latin typeface="Segoe UI Black"/>
              </a:rPr>
              <a:t>15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tables métier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148840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  <a:latin typeface="Segoe UI Black"/>
              </a:rPr>
              <a:t>4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profils d’accès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2160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  <a:latin typeface="Segoe UI Black"/>
              </a:rPr>
              <a:t>100%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PWA &amp; 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372160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  <a:latin typeface="Segoe UI Black"/>
              </a:rPr>
              <a:t>1</a:t>
            </a:r>
          </a:p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SQL tout-en-un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86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C4"/>
                </a:solidFill>
                <a:latin typeface="Segoe UI"/>
              </a:rPr>
              <a:t>Architecture PHP 8 MVC · MariaDB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916"/>
              </a:gs>
              <a:gs pos="100000">
                <a:srgbClr val="12142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47472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C3AE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ARCHITECTURE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Une base technique moderne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Cœur PHP 8.1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5968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Modèle MVC natif sans framework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199704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Routeur centralisé / controllers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3440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Validation &amp; échappement HTML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7176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Protection CSRF par formulaire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19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Segoe UI"/>
              </a:rPr>
              <a:t>Données MariaDB</a:t>
            </a:r>
          </a:p>
        </p:txBody>
      </p:sp>
      <p:sp>
        <p:nvSpPr>
          <p:cNvPr id="22" name="Oval 21"/>
          <p:cNvSpPr/>
          <p:nvPr/>
        </p:nvSpPr>
        <p:spPr>
          <a:xfrm>
            <a:off x="4645151" y="25968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3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Un seul fichier sirh.sql</a:t>
            </a:r>
          </a:p>
        </p:txBody>
      </p:sp>
      <p:sp>
        <p:nvSpPr>
          <p:cNvPr id="24" name="Oval 23"/>
          <p:cNvSpPr/>
          <p:nvPr/>
        </p:nvSpPr>
        <p:spPr>
          <a:xfrm>
            <a:off x="4645151" y="199704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1183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15 tables métier reliées</a:t>
            </a:r>
          </a:p>
        </p:txBody>
      </p:sp>
      <p:sp>
        <p:nvSpPr>
          <p:cNvPr id="26" name="Oval 25"/>
          <p:cNvSpPr/>
          <p:nvPr/>
        </p:nvSpPr>
        <p:spPr>
          <a:xfrm>
            <a:off x="4645151" y="373440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3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Contraintes &amp; index adaptés</a:t>
            </a:r>
          </a:p>
        </p:txBody>
      </p:sp>
      <p:sp>
        <p:nvSpPr>
          <p:cNvPr id="28" name="Oval 27"/>
          <p:cNvSpPr/>
          <p:nvPr/>
        </p:nvSpPr>
        <p:spPr>
          <a:xfrm>
            <a:off x="4645151" y="5471769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Jongle historique complet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11310" y="18288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2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PWA Mobile &amp; API</a:t>
            </a:r>
          </a:p>
        </p:txBody>
      </p:sp>
      <p:sp>
        <p:nvSpPr>
          <p:cNvPr id="32" name="Oval 31"/>
          <p:cNvSpPr/>
          <p:nvPr/>
        </p:nvSpPr>
        <p:spPr>
          <a:xfrm>
            <a:off x="8467342" y="25968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4" y="25146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Application web installable</a:t>
            </a:r>
          </a:p>
        </p:txBody>
      </p:sp>
      <p:sp>
        <p:nvSpPr>
          <p:cNvPr id="34" name="Oval 33"/>
          <p:cNvSpPr/>
          <p:nvPr/>
        </p:nvSpPr>
        <p:spPr>
          <a:xfrm>
            <a:off x="8467342" y="199704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4" y="198882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API JSON pour le mobile</a:t>
            </a:r>
          </a:p>
        </p:txBody>
      </p:sp>
      <p:sp>
        <p:nvSpPr>
          <p:cNvPr id="36" name="Oval 35"/>
          <p:cNvSpPr/>
          <p:nvPr/>
        </p:nvSpPr>
        <p:spPr>
          <a:xfrm>
            <a:off x="8467342" y="373440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4" y="372618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Compteur de présence temps réel</a:t>
            </a:r>
          </a:p>
        </p:txBody>
      </p:sp>
      <p:sp>
        <p:nvSpPr>
          <p:cNvPr id="38" name="Oval 37"/>
          <p:cNvSpPr/>
          <p:nvPr/>
        </p:nvSpPr>
        <p:spPr>
          <a:xfrm>
            <a:off x="8467342" y="5471769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4" y="54635400"/>
            <a:ext cx="2944368" cy="1737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QR signé HMAC, jamais mis en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10922"/>
              </a:gs>
              <a:gs pos="100000">
                <a:srgbClr val="2A124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54480" y="-1554480"/>
            <a:ext cx="4937760" cy="49377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4389120"/>
            <a:ext cx="5120640" cy="5120640"/>
          </a:xfrm>
          <a:prstGeom prst="ellipse">
            <a:avLst/>
          </a:prstGeom>
          <a:solidFill>
            <a:srgbClr val="C4B5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NOUVEAUTÉ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Pointage par QR code dynamique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CA3C4"/>
                </a:solidFill>
                <a:latin typeface="Segoe UI"/>
              </a:rPr>
              <a:t>Le code change toutes 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4B5FD"/>
                </a:solidFill>
                <a:latin typeface="Segoe UI Black"/>
              </a:rPr>
              <a:t>30 secondes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Secret signé, aucune photo réutilisable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03320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1er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703320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22C55E"/>
                </a:solidFill>
              </a:rPr>
              <a:t>Arrivée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71416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2e scan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471416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59E0B"/>
                </a:solidFill>
              </a:rPr>
              <a:t>Départ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39512"/>
            <a:ext cx="233172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3e scan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5239512"/>
            <a:ext cx="1965960" cy="603504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 algn="l"/>
            <a:r>
              <a:rPr sz="1400" b="1">
                <a:solidFill>
                  <a:srgbClr val="F87171"/>
                </a:solidFill>
              </a:rPr>
              <a:t>Refusé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82880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Comment ça marche ?</a:t>
            </a:r>
          </a:p>
          <a:p>
            <a:pPr algn="l"/>
            <a:r>
              <a:rPr sz="1400" b="0" i="0">
                <a:solidFill>
                  <a:srgbClr val="9CA3C4"/>
                </a:solidFill>
                <a:latin typeface="Segoe UI"/>
              </a:rPr>
              <a:t>L’employé affiche sur son téléphone un QR signé, renouvelé toutes les 30 secondes ; la réception le scanne et l’heure GLOBIT SAS (fuseau Afrique/Kinshasa) détermine le statut.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319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10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QR personnel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Code unique par employé, calculé par le serveur à la demande du téléphone.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2605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596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Deuxième scan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Le 2e scan de la journée enregistre le départ ; un 3e scan est refusé.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0" y="4891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4882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Sécurité du code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Secret HMAC de 256 bits, rotation de 30 s : photo, capture ou modification sont rejetées.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71771256"/>
            <a:ext cx="82296" cy="82296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71688960"/>
            <a:ext cx="54132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Rappel automatique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Script désigné aux absents après la limite.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718"/>
              </a:gs>
              <a:gs pos="100000">
                <a:srgbClr val="13153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60A5F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7C3AE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EXPÉRIENCE UTILISATEUR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Pointage Web &amp; 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Segoe UI"/>
              </a:rPr>
              <a:t>Interface web RH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77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Tableau de bord en temps réel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0747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0665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Table des absents à régulariser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035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895344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Validation / rejet des retards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97764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8736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Segoe UI"/>
              </a:rPr>
              <a:t>App mobile PWA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608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526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Téléphonable sans installation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22896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2814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QR personnel rotatif (30 s)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11845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1102280"/>
            <a:ext cx="4681728" cy="18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Historique et statuts colorés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82880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Le compte à rebours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0604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Implémenté sur des horodatages absolus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0" i="0">
                <a:solidFill>
                  <a:srgbClr val="9CA3C4"/>
                </a:solidFill>
                <a:latin typeface="Segoe UI"/>
              </a:rPr>
              <a:t>Le serveur injecte le temps GLOBIT SAS (limite de 10h00) et signe un jeton QR valable 30 s : ni le fuseau du navigateur ni l’horloge du poste ne faussent le pointage.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CA3C4"/>
                </a:solidFill>
                <a:latin typeface="Segoe UI"/>
              </a:rPr>
              <a:t>Fuseau officiel : </a:t>
            </a:r>
            <a:r>
              <a:rPr sz="1400" b="1" i="0">
                <a:solidFill>
                  <a:srgbClr val="22C55E"/>
                </a:solidFill>
                <a:latin typeface="Segoe UI"/>
              </a:rPr>
              <a:t>UTC+01:00 Afrique/Kinshasa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916"/>
              </a:gs>
              <a:gs pos="100000">
                <a:srgbClr val="12142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3291840"/>
            <a:ext cx="4206240" cy="4206240"/>
          </a:xfrm>
          <a:prstGeom prst="ellipse">
            <a:avLst/>
          </a:prstGeom>
          <a:solidFill>
            <a:srgbClr val="C4B5FD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ESPACE RH &amp; DIRECTION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Modules de 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20482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Employés &amp; Services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Fiches agents, affectations, organigramme des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3" y="20482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3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Congés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Demandes, solde disponible, approbation RH en ligne.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0" y="18288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9054" y="20482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4" y="22128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Paie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Génération des fiches, validation, paiement, archives.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38770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Formations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Catalogue, inscriptions et suivi des statuts.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26863" y="3877056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3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Rapports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Absentéisme et congés exportables (Excel / PDF).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0" y="3657600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49054" y="3877056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4" y="404164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Journal d’audit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CA3C4"/>
                </a:solidFill>
                <a:latin typeface="Segoe UI"/>
              </a:rPr>
              <a:t>Traçabilité des actions sensibles pour l’admin.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0A20"/>
              </a:gs>
              <a:gs pos="100000">
                <a:srgbClr val="1E103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3840480"/>
            <a:ext cx="4754880" cy="4754880"/>
          </a:xfrm>
          <a:prstGeom prst="ellipse">
            <a:avLst/>
          </a:prstGeom>
          <a:solidFill>
            <a:srgbClr val="7C3AE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F59E0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COMMUNICATION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Messagerie &amp; notifications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182880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Segoe UI"/>
              </a:rPr>
              <a:t>Messagerie interne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8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60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Conversations privées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Employé ⇄ RH ⇄ Administration, en un fil.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554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2546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Justification d’absence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L’employé s’explique, le RH régularise.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840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832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Annonces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Diffusion générale à toute l’équipe.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712683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71186040"/>
            <a:ext cx="449884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Non-lus temps réel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Compteurs dans le web et le mobile.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Segoe UI"/>
              </a:rPr>
              <a:t>Notifications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68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60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Alertes d’absence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Le RH voit les absents à régulariser.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554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546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Approbations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Avis de validation des congés et présences.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484083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8326040"/>
            <a:ext cx="4590288" cy="192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Nouveaux messages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9CA3C4"/>
                </a:solidFill>
                <a:latin typeface="Segoe UI"/>
              </a:rPr>
              <a:t>Notification silencieuse par statut lu/non-lu.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13153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3657600"/>
            <a:ext cx="4389120" cy="4389120"/>
          </a:xfrm>
          <a:prstGeom prst="ellipse">
            <a:avLst/>
          </a:prstGeom>
          <a:solidFill>
            <a:srgbClr val="7C3AED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22C55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502920"/>
            <a:ext cx="91440" cy="9144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65836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43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B5FD"/>
                </a:solidFill>
                <a:latin typeface="Segoe UI"/>
              </a:rPr>
              <a:t>GARANTIES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Sécurité &amp; fiabilité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2194560" cy="317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202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Rôles et contrôles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Accès selon profil : admin, RH, employé — chaque action vérifiée.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85201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84378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Fuseau GLOBIT SAS unique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UTC+01:00 Afrique/Kinshasa appliqué au PHP et à MariaDB ; compte à rebours fiable sur tous les postes.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550377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49554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Données protégées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Mots de passe hachés, sessions sécurisées, CSRF, échappement HTML ; secret QR de 256 bits par employé, jamais stocké ni affiché en clair.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815553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814730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Un seul SQL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sirh.sql : base + 15 tables + jeux de données, import en une seule étape.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1080729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07990640"/>
            <a:ext cx="10716768" cy="228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Journal d’audit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CA3C4"/>
                </a:solidFill>
                <a:latin typeface="Segoe UI"/>
              </a:rPr>
              <a:t>Chaque action sensible enregistrée et consultable par l’administrateur.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F"/>
              </a:gs>
              <a:gs pos="100000">
                <a:srgbClr val="25134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011680"/>
            <a:ext cx="5852160" cy="5852160"/>
          </a:xfrm>
          <a:prstGeom prst="ellipse">
            <a:avLst/>
          </a:prstGeom>
          <a:solidFill>
            <a:srgbClr val="7C3AED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4023360"/>
            <a:ext cx="6035040" cy="6035040"/>
          </a:xfrm>
          <a:prstGeom prst="ellipse">
            <a:avLst/>
          </a:prstGeom>
          <a:solidFill>
            <a:srgbClr val="60A5F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C4B5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 Black"/>
              </a:rPr>
              <a:t>Merci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2E8F0"/>
                </a:solidFill>
                <a:latin typeface="Segoe UI"/>
              </a:rPr>
              <a:t>Le projet SIRH accompagne GLOBIT SAS vers une gestion RH moderne, numérique et fiable.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749039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3749039"/>
            <a:ext cx="557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4B5FD"/>
                </a:solidFill>
                <a:latin typeface="Segoe UI"/>
              </a:rPr>
              <a:t>GLOBIT SAS · Système d’Information des Ressources Humaines</a:t>
            </a:r>
          </a:p>
          <a:p>
            <a:pPr algn="l"/>
            <a:r>
              <a:rPr sz="1300" b="0" i="0">
                <a:solidFill>
                  <a:srgbClr val="9CA3C4"/>
                </a:solidFill>
                <a:latin typeface="Segoe UI"/>
              </a:rPr>
              <a:t>Questions &amp; réponses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GLOBIT SAS - SIRH</dc:title>
  <dc:subject>Systeme d'Information des Ressources Humaines - startup GLOBIT SAS</dc:subject>
  <dc:creator>GLOBIT SAS</dc:creator>
  <cp:keywords>GLOBIT SAS; SIRH; RH; RDC</cp:keywords>
  <dc:description>© GLOBIT SAS - Tous droits reserves.</dc:description>
  <cp:lastModifiedBy>GLOBIT SAS</cp:lastModifiedBy>
  <cp:revision>1</cp:revision>
  <dcterms:created xsi:type="dcterms:W3CDTF">2013-01-27T09:14:16Z</dcterms:created>
  <dcterms:modified xsi:type="dcterms:W3CDTF">2013-01-27T09:15:58Z</dcterms:modified>
  <cp:category>Startup GLOBIT SAS</cp:category>
</cp:coreProperties>
</file>